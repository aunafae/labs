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2"/>
  </p:notesMasterIdLst>
  <p:sldIdLst>
    <p:sldId id="283" r:id="rId2"/>
    <p:sldId id="284" r:id="rId3"/>
    <p:sldId id="292" r:id="rId4"/>
    <p:sldId id="289" r:id="rId5"/>
    <p:sldId id="291" r:id="rId6"/>
    <p:sldId id="285" r:id="rId7"/>
    <p:sldId id="294" r:id="rId8"/>
    <p:sldId id="293" r:id="rId9"/>
    <p:sldId id="288" r:id="rId10"/>
    <p:sldId id="295" r:id="rId11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D613D-7F9B-4E42-A6ED-9695358EDB07}" type="datetimeFigureOut">
              <a:rPr lang="ru-RU" smtClean="0"/>
              <a:t>16.11.2025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8E12E-B280-448E-A0C4-0A3A5F7CDE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261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A7C15-6C80-444D-A3A9-9DC647FC7612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903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9E7E3-BF7C-444B-909E-0A57E571C698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6959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76B73-62D2-4EAE-A6EC-59E0967A2EF7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7699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8DBC2-9289-465F-A95D-6A140F29B7A6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2386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F6AB5-E4A6-4CF0-AC45-4E7FF9CEECFC}" type="datetime1">
              <a:rPr lang="ru-RU" smtClean="0"/>
              <a:t>16.11.2025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0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91EC-FB1E-41C5-A5B4-9354696B8E6D}" type="datetime1">
              <a:rPr lang="ru-RU" smtClean="0"/>
              <a:t>16.11.2025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6678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CFAB4-E466-4003-B06B-740534754CA2}" type="datetime1">
              <a:rPr lang="ru-RU" smtClean="0"/>
              <a:t>16.11.2025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16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0C3CE-8B53-4BB1-BEA7-08341B5F706F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66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036A4-8C91-4A2F-A860-08A74197C368}" type="datetime1">
              <a:rPr lang="ru-RU" smtClean="0"/>
              <a:t>16.11.2025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04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07A44-142F-4D99-840F-1FCE34ABA1C4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268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330BE-B023-484C-903E-3E54E352D95D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258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805050-66C3-488E-A247-C307FA952EEC}" type="datetime1">
              <a:rPr lang="ru-RU" smtClean="0"/>
              <a:t>16.11.2025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819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1459706" y="1996761"/>
            <a:ext cx="7772400" cy="538799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600" dirty="0"/>
          </a:p>
        </p:txBody>
      </p:sp>
      <p:sp>
        <p:nvSpPr>
          <p:cNvPr id="8" name="Подзаголовок 7"/>
          <p:cNvSpPr>
            <a:spLocks noGrp="1"/>
          </p:cNvSpPr>
          <p:nvPr>
            <p:ph type="subTitle" idx="1"/>
          </p:nvPr>
        </p:nvSpPr>
        <p:spPr>
          <a:xfrm>
            <a:off x="1916906" y="2535558"/>
            <a:ext cx="6858000" cy="165576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 </a:t>
            </a:r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09.03.04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«Программная инженерия», группа 21ПГ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онлайн-сервиса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ориентирования по корпусам университета на базе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WebGL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5"/>
          <p:cNvSpPr txBox="1">
            <a:spLocks/>
          </p:cNvSpPr>
          <p:nvPr/>
        </p:nvSpPr>
        <p:spPr>
          <a:xfrm>
            <a:off x="2795211" y="5002623"/>
            <a:ext cx="6858000" cy="14095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Банных М.А.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</a:t>
            </a:r>
            <a:endParaRPr lang="ru-RU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кафедры </a:t>
            </a:r>
            <a:r>
              <a:rPr lang="ru-RU" sz="1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ИСиЦТ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Ужаринский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А.Ю.</a:t>
            </a:r>
          </a:p>
        </p:txBody>
      </p:sp>
      <p:sp>
        <p:nvSpPr>
          <p:cNvPr id="9" name="Подзаголовок 7"/>
          <p:cNvSpPr txBox="1">
            <a:spLocks/>
          </p:cNvSpPr>
          <p:nvPr/>
        </p:nvSpPr>
        <p:spPr>
          <a:xfrm>
            <a:off x="788141" y="610396"/>
            <a:ext cx="9115529" cy="1655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ВЫСШЕГО ОБРАЗОВАНИЯ И НАУКИ РОССИЙСКОЙ </a:t>
            </a:r>
            <a:r>
              <a:rPr lang="ru-RU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ФЕДЕРАЦИИ 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«ОРЛОВСКИЙ ГОСУДАРСТВЕННЫЙ УНИВЕРСИТЕТ ИМЕНИ И.С. ТУРГЕНЕВА»</a:t>
            </a:r>
          </a:p>
        </p:txBody>
      </p:sp>
      <p:sp>
        <p:nvSpPr>
          <p:cNvPr id="10" name="Подзаголовок 5"/>
          <p:cNvSpPr txBox="1">
            <a:spLocks/>
          </p:cNvSpPr>
          <p:nvPr/>
        </p:nvSpPr>
        <p:spPr>
          <a:xfrm>
            <a:off x="4690187" y="6556574"/>
            <a:ext cx="1311443" cy="4202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Орел 2025</a:t>
            </a:r>
          </a:p>
        </p:txBody>
      </p:sp>
    </p:spTree>
    <p:extLst>
      <p:ext uri="{BB962C8B-B14F-4D97-AF65-F5344CB8AC3E}">
        <p14:creationId xmlns:p14="http://schemas.microsoft.com/office/powerpoint/2010/main" val="3929872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дзаголовок 7"/>
          <p:cNvSpPr txBox="1">
            <a:spLocks/>
          </p:cNvSpPr>
          <p:nvPr/>
        </p:nvSpPr>
        <p:spPr>
          <a:xfrm>
            <a:off x="735058" y="361918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81980" y="1215120"/>
            <a:ext cx="9221684" cy="25299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20000"/>
              </a:lnSpc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Снижение временных затрат на поиск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аудиторий и востребованных помещений (буфет, столовая, туалет, библиотека и т.д.), а так же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уменьшение стресса за счёт создания </a:t>
            </a:r>
            <a:r>
              <a:rPr lang="ru-RU" sz="2200" dirty="0" err="1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web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-страницы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для ориентирования по корпусам университета на базе </a:t>
            </a:r>
            <a:r>
              <a:rPr lang="ru-RU" sz="2200" dirty="0" err="1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WebGL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 Такая навигационная система обеспечит быстрое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удобное ориентирование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внутри корпусов университета для студентов, преподавателей и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гостей.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7548610" y="7006700"/>
            <a:ext cx="2405658" cy="402483"/>
          </a:xfrm>
        </p:spPr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246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735058" y="1020028"/>
            <a:ext cx="9221685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Анализ </a:t>
            </a:r>
            <a:r>
              <a:rPr lang="ru-RU" sz="23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сбор </a:t>
            </a: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требований</a:t>
            </a:r>
            <a:endParaRPr lang="ru-RU" sz="23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анализ существующих решений и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аналогов;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Определить ключевые функции и интерфейс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системы.</a:t>
            </a:r>
          </a:p>
        </p:txBody>
      </p:sp>
      <p:sp>
        <p:nvSpPr>
          <p:cNvPr id="7" name="Подзаголовок 7"/>
          <p:cNvSpPr txBox="1">
            <a:spLocks/>
          </p:cNvSpPr>
          <p:nvPr/>
        </p:nvSpPr>
        <p:spPr>
          <a:xfrm>
            <a:off x="735058" y="361918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35058" y="2192148"/>
            <a:ext cx="922168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buAutoNum type="arabicPeriod" startAt="2"/>
            </a:pP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требования </a:t>
            </a:r>
            <a:r>
              <a:rPr lang="ru-RU" sz="23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спецификации </a:t>
            </a: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проекта.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735059" y="4554599"/>
            <a:ext cx="9221684" cy="2416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buAutoNum type="arabicPeriod" startAt="4"/>
            </a:pP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</a:t>
            </a:r>
            <a:r>
              <a:rPr lang="ru-RU" sz="23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макет программных компонентов или экспериментального образца программного </a:t>
            </a: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обеспечения.</a:t>
            </a: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Создать 3D-модели корпусов и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инфраструктуры;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навигацию по моделям и отображение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маршрутов;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Добавить локализацию интерфейса </a:t>
            </a: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для иностранных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студентов;</a:t>
            </a: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тестирование системы на предмет удобства, точности и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надежности.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735058" y="2734737"/>
            <a:ext cx="9293527" cy="173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3. 	Проектирование </a:t>
            </a:r>
            <a:r>
              <a:rPr lang="ru-RU" sz="23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архитектуры и интерфейса системы</a:t>
            </a:r>
            <a:r>
              <a:rPr lang="ru-RU" sz="23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 веб-приложения с использованием </a:t>
            </a:r>
            <a:r>
              <a:rPr lang="ru-RU" sz="2100" dirty="0" err="1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WebGL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дизайн пользовательского интерфейса, удобный для разных групп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пользователей;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623888" indent="-268288" algn="just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Спланировать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систему для </a:t>
            </a:r>
            <a:r>
              <a:rPr lang="ru-RU" sz="21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отображения корпусов, маршрутов и </a:t>
            </a:r>
            <a:r>
              <a:rPr lang="ru-RU" sz="21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объектов.</a:t>
            </a:r>
            <a:endParaRPr lang="ru-RU" sz="21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26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7"/>
          <p:cNvSpPr txBox="1">
            <a:spLocks/>
          </p:cNvSpPr>
          <p:nvPr/>
        </p:nvSpPr>
        <p:spPr>
          <a:xfrm>
            <a:off x="788141" y="429366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88141" y="1220217"/>
            <a:ext cx="9115529" cy="2000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lnSpc>
                <a:spcPct val="150000"/>
              </a:lnSpc>
              <a:buAutoNum type="arabicPeriod"/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Помощь новым студентам и иностранным учащимся</a:t>
            </a:r>
          </a:p>
          <a:p>
            <a:pPr marL="809625" lvl="1" indent="-274638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Новички часто сталкиваются с трудностями при нахождении нужной аудитории,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что может привести к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опозданиям и стрессу;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809625" lvl="1" indent="-274638" algn="just" defTabSz="342883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Иностранные студенты, испытывающие языковой барьер, особенно нуждаются в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удобных и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понятных средствах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ориентирования.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88141" y="3306205"/>
            <a:ext cx="9115529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2.	Поддержка 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мероприятий и активностей внутри </a:t>
            </a: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университета</a:t>
            </a:r>
          </a:p>
          <a:p>
            <a:pPr marL="809625" lvl="1" indent="-27305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Университет активно развивается, организуя мероприятия с участием студентов из разных факультетов, что требует посещения и ориентирования в незнакомых корпусах.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88141" y="5038250"/>
            <a:ext cx="911552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25000"/>
              </a:lnSpc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3.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	Интерес </a:t>
            </a: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и 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предварительное знакомство с </a:t>
            </a: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университетом</a:t>
            </a:r>
          </a:p>
          <a:p>
            <a:pPr marL="809625" lvl="1" indent="-273050" algn="just" defTabSz="342883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Абитуриенты, выбирающие вуз,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могут захотеть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получить представление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об устройстве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корпусов,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 которых они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будут обучаться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81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7"/>
          <p:cNvSpPr txBox="1">
            <a:spLocks/>
          </p:cNvSpPr>
          <p:nvPr/>
        </p:nvSpPr>
        <p:spPr>
          <a:xfrm>
            <a:off x="788141" y="444715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проблемы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788141" y="1257814"/>
            <a:ext cx="9115529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Проблема: </a:t>
            </a:r>
            <a:endParaRPr lang="ru-RU" sz="2400" b="1" dirty="0" smtClean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defTabSz="342883"/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 условиях постоянного развития университета и увеличения количества студентов, особенно иностранных, значительно возрастает необходимость быстрого и удобного ориентирования внутри корпусов. В настоящий момент университет имеет 17 корпусов, включая фундаментальную библиотеку, по всему городу. Это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создаёт существенные трудности для студентов, преподавателей и гостей в поиске нужных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помещений,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 также увеличивает риск опозданий и снижает эффективность использования времени.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788141" y="4803623"/>
            <a:ext cx="9115529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Решение: </a:t>
            </a:r>
          </a:p>
          <a:p>
            <a:pPr algn="just" defTabSz="342883"/>
            <a:r>
              <a:rPr lang="en-US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Web-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страница, которая поможет быстро и удобно ориентироваться внутри незнакомого корпуса. Это сократит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время на поиск нужного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места и снизит стресс  для студентов, преподавателей и гостей.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098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Основные сведения | ФГБОУ ВО «ОГУ имени И.С. Тургенева»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0" t="16586" r="2939" b="23836"/>
          <a:stretch/>
        </p:blipFill>
        <p:spPr bwMode="auto">
          <a:xfrm>
            <a:off x="5664529" y="1043610"/>
            <a:ext cx="4239141" cy="283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одзаголовок 7"/>
          <p:cNvSpPr txBox="1">
            <a:spLocks/>
          </p:cNvSpPr>
          <p:nvPr/>
        </p:nvSpPr>
        <p:spPr>
          <a:xfrm>
            <a:off x="788141" y="421554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аналогов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788142" y="1303562"/>
            <a:ext cx="450825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/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Виртуальный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тур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Орловского государственного университета позволяет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прогуляться по корпусам и коридорам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без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выхода из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дома. В этой экскурсии можно посетить некоторые учебные корпуса и библиотеку, а также спортивные комплексы.</a:t>
            </a:r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462845" y="4090829"/>
            <a:ext cx="5493906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/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Российский технологический университет МИРЭА предоставляет интерактивную 2</a:t>
            </a:r>
            <a:r>
              <a:rPr lang="en-US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D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 карту, на которой представлена схема корпуса. Она позволяет быстро искать нужные аудитории, строя маршрут от точки до точки, а схемы этажей помогают лучше разобраться в его структуре.</a:t>
            </a:r>
          </a:p>
        </p:txBody>
      </p:sp>
      <p:pic>
        <p:nvPicPr>
          <p:cNvPr id="1028" name="Picture 4" descr="МИРЭА — Российский технологический университет — Википедия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41" y="4366642"/>
            <a:ext cx="3484581" cy="224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8707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Основные сведения | ФГБОУ ВО «ОГУ имени И.С. Тургенева»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0" t="16586" r="2939" b="23836"/>
          <a:stretch/>
        </p:blipFill>
        <p:spPr bwMode="auto">
          <a:xfrm>
            <a:off x="5717610" y="1491029"/>
            <a:ext cx="4239141" cy="283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одзаголовок 7"/>
          <p:cNvSpPr txBox="1">
            <a:spLocks/>
          </p:cNvSpPr>
          <p:nvPr/>
        </p:nvSpPr>
        <p:spPr>
          <a:xfrm>
            <a:off x="788141" y="421554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аналогов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788141" y="1529247"/>
            <a:ext cx="4643381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/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Интерактивная карта-навигатор по корпусам ОГУ имени И.С. Тургенева предоставляет схемы 11 и 12 корпусов. Она позволяет найти нужное помещение или построить маршрут от точки </a:t>
            </a:r>
            <a:r>
              <a:rPr lang="en-US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A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 до точки </a:t>
            </a:r>
            <a:r>
              <a:rPr lang="en-US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B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, а также узнать краткую информацию о кабинете (номер, назначение)</a:t>
            </a:r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788141" y="5352276"/>
            <a:ext cx="916861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/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Важно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отметить, что у каждого аналога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свои преимущества и недостатки. Для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наглядности сравнения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их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можно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представить 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 табличной форме.</a:t>
            </a:r>
          </a:p>
        </p:txBody>
      </p:sp>
    </p:spTree>
    <p:extLst>
      <p:ext uri="{BB962C8B-B14F-4D97-AF65-F5344CB8AC3E}">
        <p14:creationId xmlns:p14="http://schemas.microsoft.com/office/powerpoint/2010/main" val="1423896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одзаголовок 7"/>
          <p:cNvSpPr txBox="1">
            <a:spLocks/>
          </p:cNvSpPr>
          <p:nvPr/>
        </p:nvSpPr>
        <p:spPr>
          <a:xfrm>
            <a:off x="788141" y="421554"/>
            <a:ext cx="9115529" cy="622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аналогов</a:t>
            </a:r>
            <a:endParaRPr lang="ru-RU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88141" y="4711137"/>
            <a:ext cx="9221684" cy="22820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83">
              <a:lnSpc>
                <a:spcPct val="120000"/>
              </a:lnSpc>
            </a:pP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Онлайн-сервис для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ориентирования по корпусам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– это удобный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эффективный инструмент.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Она предоставляет возможность легко понять планировку университета и построить маршрут от начальной до конечной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точки, в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отличие от виртуального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тура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Кроме того, 3D-модель, в отличие от </a:t>
            </a:r>
            <a:r>
              <a:rPr lang="en-US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2D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-схемы, является более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наглядной и понятной,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так как представляет собой объемное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изображение пространства, что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облегчает </a:t>
            </a: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восприятие и </a:t>
            </a:r>
            <a:r>
              <a:rPr lang="ru-RU" sz="20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ориентирование.</a:t>
            </a:r>
            <a:endParaRPr lang="ru-RU" sz="2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94" y="1113178"/>
            <a:ext cx="9111776" cy="3528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67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одзаголовок 7"/>
          <p:cNvSpPr txBox="1">
            <a:spLocks/>
          </p:cNvSpPr>
          <p:nvPr/>
        </p:nvSpPr>
        <p:spPr>
          <a:xfrm>
            <a:off x="788141" y="421553"/>
            <a:ext cx="9115529" cy="708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</a:t>
            </a: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  <a:endParaRPr lang="ru-RU" sz="36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788136" y="2377665"/>
            <a:ext cx="91155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Поддержка масштабирования, вращения и перемещения моделей для детального осмотра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8137" y="1441531"/>
            <a:ext cx="91155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Возможность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перемещения по моделям (переключение между корпусами, этажами).  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788135" y="4500057"/>
            <a:ext cx="91155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Перечень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востребованных помещений для быстрого построения маршрута (буфет, столовая, туалет, библиотека и т.д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.).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788136" y="3906928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Подсказки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инструкции по ориентированию внутри корпуса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4" name="Прямоугольник 23"/>
          <p:cNvSpPr/>
          <p:nvPr/>
        </p:nvSpPr>
        <p:spPr>
          <a:xfrm>
            <a:off x="788134" y="5431740"/>
            <a:ext cx="91155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Расчёт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и визуализация маршрутов внутри корпуса между двумя выбранными помещениями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8" name="Номер слайда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788136" y="3313799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тображение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краткой информации о помещениях</a:t>
            </a: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593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одзаголовок 7"/>
          <p:cNvSpPr txBox="1">
            <a:spLocks/>
          </p:cNvSpPr>
          <p:nvPr/>
        </p:nvSpPr>
        <p:spPr>
          <a:xfrm>
            <a:off x="788141" y="421553"/>
            <a:ext cx="9115529" cy="721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Нефункциональные </a:t>
            </a: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</a:p>
        </p:txBody>
      </p:sp>
      <p:sp>
        <p:nvSpPr>
          <p:cNvPr id="25" name="Прямоугольник 24"/>
          <p:cNvSpPr/>
          <p:nvPr/>
        </p:nvSpPr>
        <p:spPr>
          <a:xfrm>
            <a:off x="788136" y="1651046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Поддержка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русского и английского языков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88136" y="2353890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Поддержка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популярных браузеров (</a:t>
            </a:r>
            <a:r>
              <a:rPr lang="ru-RU" sz="2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Chrome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Яндекс, </a:t>
            </a:r>
            <a:r>
              <a:rPr lang="ru-RU" sz="2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Edge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ru-RU" sz="2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Firefox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ru-RU" sz="2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788136" y="3056734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Применение </a:t>
            </a:r>
            <a:r>
              <a:rPr lang="en-US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Mobile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-</a:t>
            </a:r>
            <a:r>
              <a:rPr lang="ru-RU" sz="2200" dirty="0" err="1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first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подхода к разработке и </a:t>
            </a:r>
            <a:r>
              <a:rPr lang="ru-RU" sz="2200" dirty="0" err="1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web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-дизайну.</a:t>
            </a: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8" name="Номер слайда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z="1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841222" y="3759578"/>
            <a:ext cx="911552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 defTabSz="342883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</a:t>
            </a:r>
            <a:r>
              <a:rPr lang="ru-RU" sz="2200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заимодействие </a:t>
            </a:r>
            <a:r>
              <a:rPr lang="ru-RU" sz="2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 онлайн-сервисом через протокол HTTPS.</a:t>
            </a: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04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6585</TotalTime>
  <Words>660</Words>
  <Application>Microsoft Office PowerPoint</Application>
  <PresentationFormat>Произвольный</PresentationFormat>
  <Paragraphs>70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  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</dc:title>
  <dc:creator>alexandr korotkiy</dc:creator>
  <cp:lastModifiedBy>Aunafae</cp:lastModifiedBy>
  <cp:revision>126</cp:revision>
  <dcterms:created xsi:type="dcterms:W3CDTF">2023-05-23T11:47:02Z</dcterms:created>
  <dcterms:modified xsi:type="dcterms:W3CDTF">2025-11-16T19:57:44Z</dcterms:modified>
</cp:coreProperties>
</file>
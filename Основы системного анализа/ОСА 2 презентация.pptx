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6"/>
  </p:notesMasterIdLst>
  <p:sldIdLst>
    <p:sldId id="256" r:id="rId2"/>
    <p:sldId id="263" r:id="rId3"/>
    <p:sldId id="264" r:id="rId4"/>
    <p:sldId id="265" r:id="rId5"/>
    <p:sldId id="266" r:id="rId6"/>
    <p:sldId id="267" r:id="rId7"/>
    <p:sldId id="269" r:id="rId8"/>
    <p:sldId id="275" r:id="rId9"/>
    <p:sldId id="270" r:id="rId10"/>
    <p:sldId id="276" r:id="rId11"/>
    <p:sldId id="272" r:id="rId12"/>
    <p:sldId id="274" r:id="rId13"/>
    <p:sldId id="277" r:id="rId14"/>
    <p:sldId id="278" r:id="rId15"/>
  </p:sldIdLst>
  <p:sldSz cx="10691813" cy="7559675"/>
  <p:notesSz cx="6761163" cy="99425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63" autoAdjust="0"/>
    <p:restoredTop sz="94660"/>
  </p:normalViewPr>
  <p:slideViewPr>
    <p:cSldViewPr snapToGrid="0">
      <p:cViewPr varScale="1">
        <p:scale>
          <a:sx n="68" d="100"/>
          <a:sy n="68" d="100"/>
        </p:scale>
        <p:origin x="1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BA3B39-FE63-434E-AB9C-F87AF0466FCD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008063" y="1243013"/>
            <a:ext cx="474503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2C364F-F8CC-47C4-9B50-43B8A9D1E2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7260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197"/>
            <a:ext cx="908804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39ECB-35BB-47E3-A569-D40D884548C4}" type="datetime1">
              <a:rPr lang="ru-RU" smtClean="0"/>
              <a:t>20.11.2025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6518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DBFA7-04DC-4042-9487-9943C96D0EA0}" type="datetime1">
              <a:rPr lang="ru-RU" smtClean="0"/>
              <a:t>20.11.2025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5462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/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2246E-416F-4CF0-B768-3AF4C23B2C03}" type="datetime1">
              <a:rPr lang="ru-RU" smtClean="0"/>
              <a:t>20.11.2025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1970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414"/>
            <a:ext cx="4544021" cy="479654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75797-ACF3-47A1-B235-FCF79E909B8F}" type="datetime1">
              <a:rPr lang="ru-RU" smtClean="0"/>
              <a:t>20.11.2025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7012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484"/>
            <a:ext cx="9221689" cy="1461188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7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7" cy="406157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91D5D-FA8A-4E87-AEE5-53FC8E9C529F}" type="datetime1">
              <a:rPr lang="ru-RU" smtClean="0"/>
              <a:t>20.11.2025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1303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7DFB-E632-4C6D-A9E1-3925D811D561}" type="datetime1">
              <a:rPr lang="ru-RU" smtClean="0"/>
              <a:t>20.11.2025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772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8E215-C6A9-4473-87F4-81BFEC50F53C}" type="datetime1">
              <a:rPr lang="ru-RU" smtClean="0"/>
              <a:t>20.11.2025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1773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76F55-8C2A-42C9-8F07-2D37B8D47068}" type="datetime1">
              <a:rPr lang="ru-RU" smtClean="0"/>
              <a:t>20.11.2025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1342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859D5-AE64-40D1-8DB1-A121067050E1}" type="datetime1">
              <a:rPr lang="ru-RU" smtClean="0"/>
              <a:t>20.11.2025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9216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5D3EB-22A1-41CC-9F98-985918856F96}" type="datetime1">
              <a:rPr lang="ru-RU" smtClean="0"/>
              <a:t>20.11.2025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6066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023D0-1694-43EE-87FB-4253F8D62945}" type="datetime1">
              <a:rPr lang="ru-RU" smtClean="0"/>
              <a:t>20.11.2025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0230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62C624-7EFC-46A2-9304-A58646640221}" type="datetime1">
              <a:rPr lang="ru-RU" smtClean="0"/>
              <a:t>20.11.2025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9F1BE3-F3E1-4E92-9ED6-118ABA1486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074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64650" y="2186751"/>
            <a:ext cx="8562512" cy="1745337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Основы системного анализа</a:t>
            </a:r>
            <a:endParaRPr lang="ru-RU" sz="2105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871104" y="4988868"/>
            <a:ext cx="5209993" cy="836200"/>
          </a:xfrm>
        </p:spPr>
        <p:txBody>
          <a:bodyPr>
            <a:normAutofit fontScale="77500" lnSpcReduction="20000"/>
          </a:bodyPr>
          <a:lstStyle/>
          <a:p>
            <a:pPr algn="r"/>
            <a:r>
              <a:rPr lang="ru-RU" dirty="0" smtClean="0"/>
              <a:t>Студент: Банных Мария Алексеевна</a:t>
            </a:r>
          </a:p>
          <a:p>
            <a:pPr algn="r"/>
            <a:r>
              <a:rPr lang="ru-RU" dirty="0" smtClean="0"/>
              <a:t>Преподаватель: Раков Владимир Иванович</a:t>
            </a:r>
            <a:endParaRPr lang="ru-RU" dirty="0"/>
          </a:p>
        </p:txBody>
      </p:sp>
      <p:sp>
        <p:nvSpPr>
          <p:cNvPr id="4" name="Подзаголовок 2"/>
          <p:cNvSpPr txBox="1">
            <a:spLocks/>
          </p:cNvSpPr>
          <p:nvPr/>
        </p:nvSpPr>
        <p:spPr>
          <a:xfrm>
            <a:off x="4049636" y="6643599"/>
            <a:ext cx="2592540" cy="476497"/>
          </a:xfrm>
          <a:prstGeom prst="rect">
            <a:avLst/>
          </a:prstGeom>
        </p:spPr>
        <p:txBody>
          <a:bodyPr vert="horz" lIns="80189" tIns="40094" rIns="80189" bIns="40094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754" dirty="0" smtClean="0"/>
              <a:t>Орёл, 2025г</a:t>
            </a:r>
            <a:r>
              <a:rPr lang="ru-RU" sz="1754" dirty="0"/>
              <a:t>.</a:t>
            </a:r>
            <a:endParaRPr lang="ru-RU" sz="1403" dirty="0"/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1064650" y="3925782"/>
            <a:ext cx="8562512" cy="394100"/>
          </a:xfrm>
          <a:prstGeom prst="rect">
            <a:avLst/>
          </a:prstGeom>
        </p:spPr>
        <p:txBody>
          <a:bodyPr vert="horz" lIns="80189" tIns="40094" rIns="80189" bIns="40094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105" dirty="0"/>
              <a:t>Лабораторная работа </a:t>
            </a:r>
            <a:r>
              <a:rPr lang="ru-RU" sz="2105" dirty="0" smtClean="0"/>
              <a:t>№2</a:t>
            </a:r>
            <a:endParaRPr lang="ru-RU" sz="2105" dirty="0"/>
          </a:p>
        </p:txBody>
      </p:sp>
      <p:sp>
        <p:nvSpPr>
          <p:cNvPr id="6" name="Подзаголовок 2"/>
          <p:cNvSpPr txBox="1">
            <a:spLocks/>
          </p:cNvSpPr>
          <p:nvPr/>
        </p:nvSpPr>
        <p:spPr>
          <a:xfrm>
            <a:off x="1064651" y="643303"/>
            <a:ext cx="8562511" cy="932159"/>
          </a:xfrm>
          <a:prstGeom prst="rect">
            <a:avLst/>
          </a:prstGeom>
        </p:spPr>
        <p:txBody>
          <a:bodyPr vert="horz" lIns="80189" tIns="40094" rIns="80189" bIns="40094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dirty="0"/>
              <a:t>Орловский государственный </a:t>
            </a:r>
            <a:r>
              <a:rPr lang="ru-RU" sz="2800" dirty="0" smtClean="0"/>
              <a:t>университет</a:t>
            </a:r>
          </a:p>
          <a:p>
            <a:r>
              <a:rPr lang="ru-RU" sz="2800" dirty="0" smtClean="0"/>
              <a:t>имени </a:t>
            </a:r>
            <a:r>
              <a:rPr lang="ru-RU" sz="2800" dirty="0"/>
              <a:t>И.С. Тургенева</a:t>
            </a:r>
          </a:p>
        </p:txBody>
      </p:sp>
    </p:spTree>
    <p:extLst>
      <p:ext uri="{BB962C8B-B14F-4D97-AF65-F5344CB8AC3E}">
        <p14:creationId xmlns:p14="http://schemas.microsoft.com/office/powerpoint/2010/main" val="382666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3"/>
          <p:cNvSpPr txBox="1">
            <a:spLocks/>
          </p:cNvSpPr>
          <p:nvPr/>
        </p:nvSpPr>
        <p:spPr>
          <a:xfrm>
            <a:off x="729491" y="413987"/>
            <a:ext cx="9221689" cy="660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b="1" dirty="0" smtClean="0"/>
              <a:t>Классический анализ</a:t>
            </a:r>
            <a:endParaRPr lang="ru-RU" sz="3200" b="1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z="2400" smtClean="0"/>
              <a:t>2</a:t>
            </a:fld>
            <a:endParaRPr lang="ru-RU" sz="2400"/>
          </a:p>
        </p:txBody>
      </p:sp>
      <p:sp>
        <p:nvSpPr>
          <p:cNvPr id="8" name="Заголовок 3"/>
          <p:cNvSpPr txBox="1">
            <a:spLocks/>
          </p:cNvSpPr>
          <p:nvPr/>
        </p:nvSpPr>
        <p:spPr>
          <a:xfrm>
            <a:off x="729490" y="1074387"/>
            <a:ext cx="9221689" cy="75441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just"/>
            <a:r>
              <a:rPr lang="ru-RU" sz="2400" b="1" dirty="0"/>
              <a:t>Классический анализ </a:t>
            </a:r>
            <a:r>
              <a:rPr lang="ru-RU" sz="2400" dirty="0"/>
              <a:t>– это разбиение объекта и исследование его частей с произвольным </a:t>
            </a:r>
            <a:r>
              <a:rPr lang="ru-RU" sz="2400" dirty="0" err="1"/>
              <a:t>целеназначением</a:t>
            </a:r>
            <a:r>
              <a:rPr lang="ru-RU" sz="2400" dirty="0"/>
              <a:t>. 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489" y="5046107"/>
            <a:ext cx="9221689" cy="1960594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4043" y="1984418"/>
            <a:ext cx="7922387" cy="2767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499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3"/>
          <p:cNvSpPr txBox="1">
            <a:spLocks/>
          </p:cNvSpPr>
          <p:nvPr/>
        </p:nvSpPr>
        <p:spPr>
          <a:xfrm>
            <a:off x="729491" y="413987"/>
            <a:ext cx="9221689" cy="660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b="1" dirty="0" smtClean="0"/>
              <a:t>Классический анализ</a:t>
            </a:r>
            <a:endParaRPr lang="ru-RU" sz="3200" b="1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z="2400" smtClean="0"/>
              <a:t>3</a:t>
            </a:fld>
            <a:endParaRPr lang="ru-RU" sz="240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5454" y="1880901"/>
            <a:ext cx="5623463" cy="5386329"/>
          </a:xfrm>
          <a:prstGeom prst="rect">
            <a:avLst/>
          </a:prstGeom>
        </p:spPr>
      </p:pic>
      <p:sp>
        <p:nvSpPr>
          <p:cNvPr id="9" name="Заголовок 3"/>
          <p:cNvSpPr txBox="1">
            <a:spLocks/>
          </p:cNvSpPr>
          <p:nvPr/>
        </p:nvSpPr>
        <p:spPr>
          <a:xfrm>
            <a:off x="729490" y="1074387"/>
            <a:ext cx="9221689" cy="80651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ru-RU" sz="2400" b="1" dirty="0" smtClean="0"/>
              <a:t>Разбиение объекта</a:t>
            </a:r>
            <a:r>
              <a:rPr lang="ru-RU" sz="2400" dirty="0" smtClean="0"/>
              <a:t> – выделение (не разделение) частей. Также можно понимать как мысленное разделение объекта.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060862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3"/>
          <p:cNvSpPr txBox="1">
            <a:spLocks/>
          </p:cNvSpPr>
          <p:nvPr/>
        </p:nvSpPr>
        <p:spPr>
          <a:xfrm>
            <a:off x="729491" y="413987"/>
            <a:ext cx="9221689" cy="660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b="1" dirty="0" smtClean="0"/>
              <a:t>Традиционный подход к организации исследования</a:t>
            </a:r>
            <a:endParaRPr lang="ru-RU" sz="3200" b="1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z="2400" smtClean="0"/>
              <a:t>4</a:t>
            </a:fld>
            <a:endParaRPr lang="ru-RU" sz="2400"/>
          </a:p>
        </p:txBody>
      </p:sp>
      <p:sp>
        <p:nvSpPr>
          <p:cNvPr id="7" name="Заголовок 3"/>
          <p:cNvSpPr>
            <a:spLocks noGrp="1"/>
          </p:cNvSpPr>
          <p:nvPr>
            <p:ph type="title"/>
          </p:nvPr>
        </p:nvSpPr>
        <p:spPr>
          <a:xfrm>
            <a:off x="749380" y="1476101"/>
            <a:ext cx="9221689" cy="806514"/>
          </a:xfrm>
        </p:spPr>
        <p:txBody>
          <a:bodyPr>
            <a:noAutofit/>
          </a:bodyPr>
          <a:lstStyle/>
          <a:p>
            <a:pPr algn="just"/>
            <a:r>
              <a:rPr lang="ru-RU" sz="2400" b="1" dirty="0" smtClean="0"/>
              <a:t>Свойство </a:t>
            </a:r>
            <a:r>
              <a:rPr lang="ru-RU" sz="2400" dirty="0" smtClean="0"/>
              <a:t>– то, как функционирует объект при взаимодействии с другими объектами.</a:t>
            </a:r>
            <a:endParaRPr lang="ru-RU" sz="2400" dirty="0"/>
          </a:p>
        </p:txBody>
      </p:sp>
      <p:sp>
        <p:nvSpPr>
          <p:cNvPr id="8" name="Заголовок 3"/>
          <p:cNvSpPr txBox="1">
            <a:spLocks/>
          </p:cNvSpPr>
          <p:nvPr/>
        </p:nvSpPr>
        <p:spPr>
          <a:xfrm>
            <a:off x="763696" y="974384"/>
            <a:ext cx="9221689" cy="43143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dirty="0" smtClean="0"/>
              <a:t>(</a:t>
            </a:r>
            <a:r>
              <a:rPr lang="ru-RU" sz="2400" dirty="0"/>
              <a:t>профессор Попов 1972г</a:t>
            </a:r>
            <a:r>
              <a:rPr lang="ru-RU" sz="2400" dirty="0" smtClean="0"/>
              <a:t>.)</a:t>
            </a:r>
            <a:endParaRPr lang="ru-RU" sz="2400" dirty="0"/>
          </a:p>
        </p:txBody>
      </p:sp>
      <p:sp>
        <p:nvSpPr>
          <p:cNvPr id="9" name="Заголовок 3"/>
          <p:cNvSpPr txBox="1">
            <a:spLocks/>
          </p:cNvSpPr>
          <p:nvPr/>
        </p:nvSpPr>
        <p:spPr>
          <a:xfrm>
            <a:off x="729491" y="5486310"/>
            <a:ext cx="9221689" cy="176601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ru-RU" sz="2400" dirty="0" smtClean="0"/>
              <a:t>Использование </a:t>
            </a:r>
            <a:r>
              <a:rPr lang="ru-RU" sz="2400" dirty="0"/>
              <a:t>традиционного подхода может исключить из рассмотрения широкий плац свойств объекта, присущих ему как целому и отсутствующих у него частей. Это не способствует полноценному формированию представления о функционировании объекта исследования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270" y="2364114"/>
            <a:ext cx="9181910" cy="3128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992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3"/>
          <p:cNvSpPr txBox="1">
            <a:spLocks/>
          </p:cNvSpPr>
          <p:nvPr/>
        </p:nvSpPr>
        <p:spPr>
          <a:xfrm>
            <a:off x="729491" y="413987"/>
            <a:ext cx="9221689" cy="660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b="1" dirty="0" smtClean="0"/>
              <a:t>Системный анализ</a:t>
            </a:r>
            <a:endParaRPr lang="ru-RU" sz="3200" b="1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z="2400" smtClean="0"/>
              <a:t>5</a:t>
            </a:fld>
            <a:endParaRPr lang="ru-RU" sz="2400"/>
          </a:p>
        </p:txBody>
      </p:sp>
      <p:sp>
        <p:nvSpPr>
          <p:cNvPr id="8" name="Заголовок 3"/>
          <p:cNvSpPr txBox="1">
            <a:spLocks/>
          </p:cNvSpPr>
          <p:nvPr/>
        </p:nvSpPr>
        <p:spPr>
          <a:xfrm>
            <a:off x="729489" y="1317812"/>
            <a:ext cx="9221689" cy="79337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ru-RU" sz="2400" b="1" dirty="0" smtClean="0"/>
              <a:t>Системный анализ - </a:t>
            </a:r>
            <a:r>
              <a:rPr lang="ru-RU" sz="2400" dirty="0" smtClean="0"/>
              <a:t>системный </a:t>
            </a:r>
            <a:r>
              <a:rPr lang="ru-RU" sz="2400" dirty="0"/>
              <a:t>подход к организации требуемого функционирования объекта (как </a:t>
            </a:r>
            <a:r>
              <a:rPr lang="ru-RU" sz="2400" dirty="0" smtClean="0"/>
              <a:t>систем). </a:t>
            </a:r>
            <a:endParaRPr lang="ru-RU" sz="2400" dirty="0" smtClean="0"/>
          </a:p>
        </p:txBody>
      </p:sp>
      <p:sp>
        <p:nvSpPr>
          <p:cNvPr id="12" name="Заголовок 3"/>
          <p:cNvSpPr txBox="1">
            <a:spLocks/>
          </p:cNvSpPr>
          <p:nvPr/>
        </p:nvSpPr>
        <p:spPr>
          <a:xfrm>
            <a:off x="729489" y="5969899"/>
            <a:ext cx="9221689" cy="6096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ru-RU" sz="2400" b="1" dirty="0"/>
              <a:t>Системный подход </a:t>
            </a:r>
            <a:r>
              <a:rPr lang="ru-RU" sz="2400" dirty="0" smtClean="0"/>
              <a:t>требует </a:t>
            </a:r>
            <a:r>
              <a:rPr lang="ru-RU" sz="2400" b="1" u="sng" dirty="0" smtClean="0"/>
              <a:t>многократного</a:t>
            </a:r>
            <a:r>
              <a:rPr lang="ru-RU" sz="2400" dirty="0" smtClean="0"/>
              <a:t> разбиения.</a:t>
            </a: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834" y="2232900"/>
            <a:ext cx="8426998" cy="3615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830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3"/>
          <p:cNvSpPr txBox="1">
            <a:spLocks/>
          </p:cNvSpPr>
          <p:nvPr/>
        </p:nvSpPr>
        <p:spPr>
          <a:xfrm>
            <a:off x="729491" y="413987"/>
            <a:ext cx="9221689" cy="660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b="1" dirty="0" smtClean="0"/>
              <a:t>Системный метод исследования</a:t>
            </a:r>
            <a:endParaRPr lang="ru-RU" sz="3200" b="1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z="2400" smtClean="0"/>
              <a:t>6</a:t>
            </a:fld>
            <a:endParaRPr lang="ru-RU" sz="240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491" y="1323195"/>
            <a:ext cx="9223117" cy="5434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083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3"/>
          <p:cNvSpPr txBox="1">
            <a:spLocks/>
          </p:cNvSpPr>
          <p:nvPr/>
        </p:nvSpPr>
        <p:spPr>
          <a:xfrm>
            <a:off x="729491" y="413987"/>
            <a:ext cx="9221689" cy="660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b="1" dirty="0" smtClean="0"/>
              <a:t>Теория систем</a:t>
            </a:r>
            <a:endParaRPr lang="ru-RU" sz="3200" b="1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z="2400" smtClean="0"/>
              <a:t>7</a:t>
            </a:fld>
            <a:endParaRPr lang="ru-RU" sz="2400"/>
          </a:p>
        </p:txBody>
      </p:sp>
      <p:sp>
        <p:nvSpPr>
          <p:cNvPr id="5" name="Заголовок 3"/>
          <p:cNvSpPr txBox="1">
            <a:spLocks/>
          </p:cNvSpPr>
          <p:nvPr/>
        </p:nvSpPr>
        <p:spPr>
          <a:xfrm>
            <a:off x="729491" y="1482596"/>
            <a:ext cx="9221689" cy="69028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ru-RU" sz="2400" b="1" dirty="0" smtClean="0"/>
              <a:t>Теория систем</a:t>
            </a:r>
            <a:r>
              <a:rPr lang="ru-RU" sz="2400" dirty="0" smtClean="0"/>
              <a:t> </a:t>
            </a:r>
            <a:r>
              <a:rPr lang="ru-RU" sz="2400" b="1" dirty="0"/>
              <a:t>– </a:t>
            </a:r>
            <a:r>
              <a:rPr lang="ru-RU" sz="2400" dirty="0"/>
              <a:t>научная методологическая концепция исследования объекта, представляющих собой системы</a:t>
            </a:r>
            <a:r>
              <a:rPr lang="ru-RU" sz="2400" dirty="0" smtClean="0"/>
              <a:t>.</a:t>
            </a:r>
          </a:p>
        </p:txBody>
      </p:sp>
      <p:sp>
        <p:nvSpPr>
          <p:cNvPr id="16" name="Заголовок 3"/>
          <p:cNvSpPr txBox="1">
            <a:spLocks/>
          </p:cNvSpPr>
          <p:nvPr/>
        </p:nvSpPr>
        <p:spPr>
          <a:xfrm>
            <a:off x="729491" y="5831856"/>
            <a:ext cx="9221689" cy="80731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ru-RU" sz="2400" dirty="0" smtClean="0"/>
              <a:t>Метод </a:t>
            </a:r>
            <a:r>
              <a:rPr lang="ru-RU" sz="2400" dirty="0"/>
              <a:t>и способ везде одно и то же, кроме технических наук. </a:t>
            </a:r>
            <a:endParaRPr lang="ru-RU" sz="2400" dirty="0" smtClean="0"/>
          </a:p>
          <a:p>
            <a:pPr algn="just"/>
            <a:r>
              <a:rPr lang="ru-RU" sz="2400" b="1" dirty="0" smtClean="0"/>
              <a:t>Способ</a:t>
            </a:r>
            <a:r>
              <a:rPr lang="ru-RU" sz="2400" dirty="0" smtClean="0"/>
              <a:t> </a:t>
            </a:r>
            <a:r>
              <a:rPr lang="ru-RU" sz="2400" dirty="0"/>
              <a:t>– только тогда, когда есть измерение.</a:t>
            </a:r>
          </a:p>
        </p:txBody>
      </p:sp>
      <p:sp>
        <p:nvSpPr>
          <p:cNvPr id="18" name="Заголовок 3"/>
          <p:cNvSpPr txBox="1">
            <a:spLocks/>
          </p:cNvSpPr>
          <p:nvPr/>
        </p:nvSpPr>
        <p:spPr>
          <a:xfrm>
            <a:off x="729491" y="5260081"/>
            <a:ext cx="9221689" cy="44816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ru-RU" sz="2400" b="1" dirty="0" smtClean="0"/>
              <a:t>Методологически</a:t>
            </a:r>
            <a:r>
              <a:rPr lang="ru-RU" sz="2400" dirty="0" smtClean="0"/>
              <a:t> – </a:t>
            </a:r>
            <a:r>
              <a:rPr lang="ru-RU" sz="2400" dirty="0"/>
              <a:t>наука о методе – как получить метод</a:t>
            </a:r>
            <a:r>
              <a:rPr lang="ru-RU" sz="2400" dirty="0" smtClean="0"/>
              <a:t>.</a:t>
            </a:r>
            <a:endParaRPr lang="ru-RU" sz="24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391" y="2641626"/>
            <a:ext cx="8289888" cy="2149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833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3"/>
          <p:cNvSpPr txBox="1">
            <a:spLocks/>
          </p:cNvSpPr>
          <p:nvPr/>
        </p:nvSpPr>
        <p:spPr>
          <a:xfrm>
            <a:off x="729491" y="413987"/>
            <a:ext cx="9221689" cy="660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b="1" dirty="0" smtClean="0"/>
              <a:t>Теория систем</a:t>
            </a:r>
            <a:endParaRPr lang="ru-RU" sz="3200" b="1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z="2400" smtClean="0"/>
              <a:t>8</a:t>
            </a:fld>
            <a:endParaRPr lang="ru-RU" sz="2400"/>
          </a:p>
        </p:txBody>
      </p:sp>
      <p:sp>
        <p:nvSpPr>
          <p:cNvPr id="14" name="Заголовок 3"/>
          <p:cNvSpPr txBox="1">
            <a:spLocks/>
          </p:cNvSpPr>
          <p:nvPr/>
        </p:nvSpPr>
        <p:spPr>
          <a:xfrm>
            <a:off x="729490" y="1088284"/>
            <a:ext cx="9221689" cy="44796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ru-RU" sz="2400" b="1" dirty="0"/>
              <a:t>Концепция </a:t>
            </a:r>
            <a:r>
              <a:rPr lang="ru-RU" sz="2400" dirty="0"/>
              <a:t>– метод понимания действительности и её </a:t>
            </a:r>
            <a:r>
              <a:rPr lang="ru-RU" sz="2400" dirty="0" smtClean="0"/>
              <a:t>трактовка.</a:t>
            </a:r>
          </a:p>
        </p:txBody>
      </p:sp>
      <p:sp>
        <p:nvSpPr>
          <p:cNvPr id="17" name="Заголовок 3"/>
          <p:cNvSpPr txBox="1">
            <a:spLocks/>
          </p:cNvSpPr>
          <p:nvPr/>
        </p:nvSpPr>
        <p:spPr>
          <a:xfrm>
            <a:off x="729490" y="6045217"/>
            <a:ext cx="9221689" cy="76456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ru-RU" sz="2400" b="1" dirty="0" smtClean="0"/>
              <a:t>Изоморфизм</a:t>
            </a:r>
            <a:r>
              <a:rPr lang="ru-RU" sz="2400" dirty="0" smtClean="0"/>
              <a:t> </a:t>
            </a:r>
            <a:r>
              <a:rPr lang="ru-RU" sz="2400" dirty="0"/>
              <a:t>– это заданное отношение эквивалентности – приравнивание (два объекта изоморфны, если они серые, например</a:t>
            </a:r>
            <a:r>
              <a:rPr lang="ru-RU" sz="2400" dirty="0" smtClean="0"/>
              <a:t>).</a:t>
            </a:r>
            <a:endParaRPr lang="ru-RU" sz="24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453" y="1691742"/>
            <a:ext cx="8235761" cy="2579731"/>
          </a:xfrm>
          <a:prstGeom prst="rect">
            <a:avLst/>
          </a:prstGeom>
        </p:spPr>
      </p:pic>
      <p:sp>
        <p:nvSpPr>
          <p:cNvPr id="10" name="Заголовок 3"/>
          <p:cNvSpPr txBox="1">
            <a:spLocks/>
          </p:cNvSpPr>
          <p:nvPr/>
        </p:nvSpPr>
        <p:spPr>
          <a:xfrm>
            <a:off x="729490" y="4946857"/>
            <a:ext cx="9221689" cy="924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ru-RU" sz="2200" dirty="0" smtClean="0"/>
              <a:t>По замыслу профессора Людвига фон </a:t>
            </a:r>
            <a:r>
              <a:rPr lang="ru-RU" sz="2200" dirty="0" err="1" smtClean="0"/>
              <a:t>Берталанфи</a:t>
            </a:r>
            <a:r>
              <a:rPr lang="ru-RU" sz="2200" dirty="0" smtClean="0"/>
              <a:t>, основная идея теории состоит в признании </a:t>
            </a:r>
            <a:r>
              <a:rPr lang="ru-RU" sz="2200" dirty="0"/>
              <a:t>изоморфизма законом, управляющим функционированием системных </a:t>
            </a:r>
            <a:r>
              <a:rPr lang="ru-RU" sz="2200" dirty="0" smtClean="0"/>
              <a:t>объектов.</a:t>
            </a:r>
          </a:p>
        </p:txBody>
      </p:sp>
    </p:spTree>
    <p:extLst>
      <p:ext uri="{BB962C8B-B14F-4D97-AF65-F5344CB8AC3E}">
        <p14:creationId xmlns:p14="http://schemas.microsoft.com/office/powerpoint/2010/main" val="3351606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3"/>
          <p:cNvSpPr txBox="1">
            <a:spLocks/>
          </p:cNvSpPr>
          <p:nvPr/>
        </p:nvSpPr>
        <p:spPr>
          <a:xfrm>
            <a:off x="729491" y="413987"/>
            <a:ext cx="9221689" cy="660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b="1" dirty="0" smtClean="0"/>
              <a:t>Транзакционный анализ</a:t>
            </a:r>
            <a:endParaRPr lang="ru-RU" sz="3200" b="1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z="2400" smtClean="0"/>
              <a:t>9</a:t>
            </a:fld>
            <a:endParaRPr lang="ru-RU" sz="2400"/>
          </a:p>
        </p:txBody>
      </p:sp>
      <p:sp>
        <p:nvSpPr>
          <p:cNvPr id="5" name="Заголовок 3"/>
          <p:cNvSpPr txBox="1">
            <a:spLocks/>
          </p:cNvSpPr>
          <p:nvPr/>
        </p:nvSpPr>
        <p:spPr>
          <a:xfrm>
            <a:off x="729491" y="1127561"/>
            <a:ext cx="9319584" cy="168540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ru-RU" sz="2400" b="1" dirty="0" smtClean="0"/>
              <a:t>Транзакционный анализ </a:t>
            </a:r>
            <a:r>
              <a:rPr lang="ru-RU" sz="2400" dirty="0"/>
              <a:t>оперирует со сценариями возможного функционирования объекта (жизненными сценариями) и направлен на такое изменение процесса функционирования объекта, которое исключило бы факторы, мешающие его «эффективной» работе или «полноценной» </a:t>
            </a:r>
            <a:r>
              <a:rPr lang="ru-RU" sz="2400" dirty="0" smtClean="0"/>
              <a:t>коммуникации.</a:t>
            </a:r>
            <a:endParaRPr lang="ru-RU" sz="2400" dirty="0"/>
          </a:p>
        </p:txBody>
      </p:sp>
      <p:sp>
        <p:nvSpPr>
          <p:cNvPr id="9" name="Заголовок 3"/>
          <p:cNvSpPr txBox="1">
            <a:spLocks/>
          </p:cNvSpPr>
          <p:nvPr/>
        </p:nvSpPr>
        <p:spPr>
          <a:xfrm>
            <a:off x="729491" y="6297875"/>
            <a:ext cx="9319585" cy="84737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ru-RU" sz="2400" b="1" dirty="0"/>
              <a:t>Предназначение транзакционного анализа </a:t>
            </a:r>
            <a:r>
              <a:rPr lang="ru-RU" sz="2400" dirty="0" smtClean="0"/>
              <a:t>– коррекция жизненного </a:t>
            </a:r>
            <a:r>
              <a:rPr lang="ru-RU" sz="2400" dirty="0"/>
              <a:t>сценария.</a:t>
            </a:r>
            <a:endParaRPr lang="ru-RU" sz="2400" dirty="0" smtClean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491" y="3004685"/>
            <a:ext cx="9296400" cy="320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867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3"/>
          <p:cNvSpPr txBox="1">
            <a:spLocks/>
          </p:cNvSpPr>
          <p:nvPr/>
        </p:nvSpPr>
        <p:spPr>
          <a:xfrm>
            <a:off x="729491" y="413987"/>
            <a:ext cx="9221689" cy="660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b="1" dirty="0" smtClean="0"/>
              <a:t>Транзакционный анализ</a:t>
            </a:r>
            <a:endParaRPr lang="ru-RU" sz="3200" b="1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z="2400" smtClean="0"/>
              <a:t>10</a:t>
            </a:fld>
            <a:endParaRPr lang="ru-RU" sz="2400"/>
          </a:p>
        </p:txBody>
      </p:sp>
      <p:sp>
        <p:nvSpPr>
          <p:cNvPr id="15" name="Заголовок 3"/>
          <p:cNvSpPr txBox="1">
            <a:spLocks/>
          </p:cNvSpPr>
          <p:nvPr/>
        </p:nvSpPr>
        <p:spPr>
          <a:xfrm>
            <a:off x="729491" y="5984366"/>
            <a:ext cx="9221689" cy="73101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ru-RU" sz="2400" b="1" dirty="0" smtClean="0"/>
              <a:t>Обуславливает </a:t>
            </a:r>
            <a:r>
              <a:rPr lang="ru-RU" sz="2400" dirty="0"/>
              <a:t>– </a:t>
            </a:r>
            <a:r>
              <a:rPr lang="ru-RU" sz="2400" dirty="0" smtClean="0"/>
              <a:t>является кусочком причины. Много «обусловит» может сложить целую причину.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338" y="2846293"/>
            <a:ext cx="7499994" cy="2614677"/>
          </a:xfrm>
          <a:prstGeom prst="rect">
            <a:avLst/>
          </a:prstGeom>
        </p:spPr>
      </p:pic>
      <p:sp>
        <p:nvSpPr>
          <p:cNvPr id="11" name="Заголовок 3"/>
          <p:cNvSpPr txBox="1">
            <a:spLocks/>
          </p:cNvSpPr>
          <p:nvPr/>
        </p:nvSpPr>
        <p:spPr>
          <a:xfrm>
            <a:off x="729491" y="1771681"/>
            <a:ext cx="9395782" cy="84843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ru-RU" sz="2400" b="1" dirty="0" err="1" smtClean="0"/>
              <a:t>Контрсценарий</a:t>
            </a:r>
            <a:r>
              <a:rPr lang="ru-RU" sz="2400" b="1" dirty="0" smtClean="0"/>
              <a:t> </a:t>
            </a:r>
            <a:r>
              <a:rPr lang="ru-RU" sz="2400" dirty="0"/>
              <a:t>– последовательность действий для изменения сценария.</a:t>
            </a:r>
            <a:endParaRPr lang="ru-RU" sz="2400" dirty="0" smtClean="0"/>
          </a:p>
        </p:txBody>
      </p:sp>
      <p:sp>
        <p:nvSpPr>
          <p:cNvPr id="12" name="Заголовок 3"/>
          <p:cNvSpPr txBox="1">
            <a:spLocks/>
          </p:cNvSpPr>
          <p:nvPr/>
        </p:nvSpPr>
        <p:spPr>
          <a:xfrm>
            <a:off x="729491" y="1253804"/>
            <a:ext cx="9395782" cy="47270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ru-RU" sz="2400" b="1" dirty="0"/>
              <a:t>Сценарий </a:t>
            </a:r>
            <a:r>
              <a:rPr lang="ru-RU" sz="2400" dirty="0"/>
              <a:t>– это исходный план функционирования.</a:t>
            </a:r>
            <a:endParaRPr lang="ru-RU" sz="2400" dirty="0" smtClean="0"/>
          </a:p>
        </p:txBody>
      </p:sp>
    </p:spTree>
    <p:extLst>
      <p:ext uri="{BB962C8B-B14F-4D97-AF65-F5344CB8AC3E}">
        <p14:creationId xmlns:p14="http://schemas.microsoft.com/office/powerpoint/2010/main" val="2275852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z="2400" smtClean="0"/>
              <a:t>11</a:t>
            </a:fld>
            <a:endParaRPr lang="ru-RU" sz="2400"/>
          </a:p>
        </p:txBody>
      </p:sp>
      <p:sp>
        <p:nvSpPr>
          <p:cNvPr id="8" name="Заголовок 3"/>
          <p:cNvSpPr txBox="1">
            <a:spLocks/>
          </p:cNvSpPr>
          <p:nvPr/>
        </p:nvSpPr>
        <p:spPr>
          <a:xfrm>
            <a:off x="729490" y="1142212"/>
            <a:ext cx="9350669" cy="184894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ru-RU" sz="2400" dirty="0"/>
              <a:t>Транзакционный анализ исходит из того, что транзакции как единицы общения, состоящие из стимула и реакции, изначально формируют строго заданное количество состояний объекта, в одном из которых он может находиться в каждый момент времени и взаимодействовать с соответствующими состояниями других объектов.</a:t>
            </a:r>
          </a:p>
        </p:txBody>
      </p:sp>
      <p:sp>
        <p:nvSpPr>
          <p:cNvPr id="11" name="Заголовок 3"/>
          <p:cNvSpPr txBox="1">
            <a:spLocks/>
          </p:cNvSpPr>
          <p:nvPr/>
        </p:nvSpPr>
        <p:spPr>
          <a:xfrm>
            <a:off x="729491" y="413987"/>
            <a:ext cx="9221689" cy="660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b="1" dirty="0" smtClean="0"/>
              <a:t>Системный подход</a:t>
            </a:r>
            <a:endParaRPr lang="ru-RU" sz="3200" b="1" dirty="0"/>
          </a:p>
        </p:txBody>
      </p:sp>
      <p:sp>
        <p:nvSpPr>
          <p:cNvPr id="12" name="Заголовок 3"/>
          <p:cNvSpPr txBox="1">
            <a:spLocks/>
          </p:cNvSpPr>
          <p:nvPr/>
        </p:nvSpPr>
        <p:spPr>
          <a:xfrm>
            <a:off x="729491" y="4038620"/>
            <a:ext cx="9221689" cy="41354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dirty="0"/>
              <a:t>Таким образом, в системном </a:t>
            </a:r>
            <a:r>
              <a:rPr lang="ru-RU" sz="2400" dirty="0" smtClean="0"/>
              <a:t>подходе:</a:t>
            </a:r>
          </a:p>
        </p:txBody>
      </p:sp>
      <p:sp>
        <p:nvSpPr>
          <p:cNvPr id="13" name="Заголовок 3"/>
          <p:cNvSpPr txBox="1">
            <a:spLocks/>
          </p:cNvSpPr>
          <p:nvPr/>
        </p:nvSpPr>
        <p:spPr>
          <a:xfrm>
            <a:off x="729491" y="3346392"/>
            <a:ext cx="9221689" cy="35292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ru-RU" sz="2400" b="1" dirty="0" smtClean="0"/>
              <a:t>Реакция</a:t>
            </a:r>
            <a:r>
              <a:rPr lang="ru-RU" sz="2400" dirty="0" smtClean="0"/>
              <a:t> </a:t>
            </a:r>
            <a:r>
              <a:rPr lang="ru-RU" sz="2400" dirty="0"/>
              <a:t>– выходная функция, </a:t>
            </a:r>
            <a:r>
              <a:rPr lang="ru-RU" sz="2400" dirty="0" smtClean="0"/>
              <a:t>стимул </a:t>
            </a:r>
            <a:r>
              <a:rPr lang="ru-RU" sz="2400" dirty="0"/>
              <a:t>– входная.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491" y="4635500"/>
            <a:ext cx="9350668" cy="2131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77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3"/>
          <p:cNvSpPr txBox="1">
            <a:spLocks/>
          </p:cNvSpPr>
          <p:nvPr/>
        </p:nvSpPr>
        <p:spPr>
          <a:xfrm>
            <a:off x="729491" y="413987"/>
            <a:ext cx="9221689" cy="660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b="1" dirty="0" smtClean="0"/>
              <a:t>Системный подход</a:t>
            </a:r>
            <a:endParaRPr lang="ru-RU" sz="3200" b="1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z="2400" smtClean="0"/>
              <a:t>12</a:t>
            </a:fld>
            <a:endParaRPr lang="ru-RU" sz="240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255" y="1074387"/>
            <a:ext cx="9846160" cy="4494986"/>
          </a:xfrm>
          <a:prstGeom prst="rect">
            <a:avLst/>
          </a:prstGeom>
        </p:spPr>
      </p:pic>
      <p:sp>
        <p:nvSpPr>
          <p:cNvPr id="7" name="Заголовок 3"/>
          <p:cNvSpPr txBox="1">
            <a:spLocks/>
          </p:cNvSpPr>
          <p:nvPr/>
        </p:nvSpPr>
        <p:spPr>
          <a:xfrm>
            <a:off x="645268" y="5657969"/>
            <a:ext cx="9221689" cy="94624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ru-RU" sz="2200" b="1" dirty="0"/>
              <a:t>Локально организованная среда системы </a:t>
            </a:r>
            <a:r>
              <a:rPr lang="ru-RU" sz="2200" dirty="0"/>
              <a:t>– это всё то, что способствует или препятствует требуемому функционированию системы и что очень сложно описать в модели исследуемого объекта</a:t>
            </a:r>
            <a:r>
              <a:rPr lang="ru-RU" sz="2200" dirty="0" smtClean="0"/>
              <a:t>.</a:t>
            </a:r>
            <a:endParaRPr lang="ru-RU" sz="2200" dirty="0"/>
          </a:p>
        </p:txBody>
      </p:sp>
      <p:sp>
        <p:nvSpPr>
          <p:cNvPr id="8" name="Заголовок 3"/>
          <p:cNvSpPr txBox="1">
            <a:spLocks/>
          </p:cNvSpPr>
          <p:nvPr/>
        </p:nvSpPr>
        <p:spPr>
          <a:xfrm>
            <a:off x="645268" y="6702994"/>
            <a:ext cx="9305912" cy="60741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ru-RU" sz="2200" b="1" dirty="0" smtClean="0"/>
              <a:t>Разбиение </a:t>
            </a:r>
            <a:r>
              <a:rPr lang="ru-RU" sz="2200" b="1" dirty="0"/>
              <a:t>локально организованной среды </a:t>
            </a:r>
            <a:r>
              <a:rPr lang="ru-RU" sz="2200" dirty="0" smtClean="0"/>
              <a:t>понимается </a:t>
            </a:r>
            <a:r>
              <a:rPr lang="ru-RU" sz="2200" dirty="0"/>
              <a:t>как смена места наблюдения.</a:t>
            </a:r>
          </a:p>
        </p:txBody>
      </p:sp>
    </p:spTree>
    <p:extLst>
      <p:ext uri="{BB962C8B-B14F-4D97-AF65-F5344CB8AC3E}">
        <p14:creationId xmlns:p14="http://schemas.microsoft.com/office/powerpoint/2010/main" val="1785866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3"/>
          <p:cNvSpPr txBox="1">
            <a:spLocks/>
          </p:cNvSpPr>
          <p:nvPr/>
        </p:nvSpPr>
        <p:spPr>
          <a:xfrm>
            <a:off x="729491" y="413987"/>
            <a:ext cx="9221689" cy="660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b="1" dirty="0" smtClean="0"/>
              <a:t>Закономерность систем</a:t>
            </a:r>
            <a:endParaRPr lang="ru-RU" sz="3200" b="1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z="2400" smtClean="0"/>
              <a:t>13</a:t>
            </a:fld>
            <a:endParaRPr lang="ru-RU" sz="2400"/>
          </a:p>
        </p:txBody>
      </p:sp>
      <p:sp>
        <p:nvSpPr>
          <p:cNvPr id="9" name="Заголовок 3"/>
          <p:cNvSpPr txBox="1">
            <a:spLocks/>
          </p:cNvSpPr>
          <p:nvPr/>
        </p:nvSpPr>
        <p:spPr>
          <a:xfrm>
            <a:off x="729490" y="1188459"/>
            <a:ext cx="9221689" cy="38712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ru-RU" sz="2200" b="1" dirty="0" smtClean="0"/>
              <a:t>Закономерность</a:t>
            </a:r>
            <a:r>
              <a:rPr lang="ru-RU" sz="2200" dirty="0" smtClean="0"/>
              <a:t> – повторяемость в серии.</a:t>
            </a:r>
          </a:p>
        </p:txBody>
      </p:sp>
      <p:sp>
        <p:nvSpPr>
          <p:cNvPr id="10" name="Заголовок 3"/>
          <p:cNvSpPr txBox="1">
            <a:spLocks/>
          </p:cNvSpPr>
          <p:nvPr/>
        </p:nvSpPr>
        <p:spPr>
          <a:xfrm>
            <a:off x="729489" y="1575582"/>
            <a:ext cx="9221689" cy="38712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ru-RU" sz="2200" b="1" dirty="0" smtClean="0"/>
              <a:t>Закономерность систем </a:t>
            </a:r>
            <a:r>
              <a:rPr lang="ru-RU" sz="2200" dirty="0" smtClean="0"/>
              <a:t>– повторяемость </a:t>
            </a:r>
            <a:r>
              <a:rPr lang="ru-RU" sz="2200" dirty="0" smtClean="0"/>
              <a:t>среди систем.</a:t>
            </a:r>
            <a:endParaRPr lang="ru-RU" sz="2200" dirty="0" smtClean="0"/>
          </a:p>
        </p:txBody>
      </p:sp>
      <p:sp>
        <p:nvSpPr>
          <p:cNvPr id="11" name="Заголовок 3"/>
          <p:cNvSpPr txBox="1">
            <a:spLocks/>
          </p:cNvSpPr>
          <p:nvPr/>
        </p:nvSpPr>
        <p:spPr>
          <a:xfrm>
            <a:off x="729489" y="5881751"/>
            <a:ext cx="9221689" cy="73782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ru-RU" sz="2200" b="1" dirty="0" smtClean="0"/>
              <a:t>Закономерность </a:t>
            </a:r>
            <a:r>
              <a:rPr lang="ru-RU" sz="2200" dirty="0" smtClean="0"/>
              <a:t>помогает </a:t>
            </a:r>
            <a:r>
              <a:rPr lang="ru-RU" sz="2200" dirty="0"/>
              <a:t>понять </a:t>
            </a:r>
            <a:r>
              <a:rPr lang="ru-RU" sz="2200" dirty="0" smtClean="0"/>
              <a:t>динамику </a:t>
            </a:r>
            <a:r>
              <a:rPr lang="ru-RU" sz="2200" dirty="0"/>
              <a:t>взаимодействия части и целого в системе и </a:t>
            </a:r>
            <a:r>
              <a:rPr lang="ru-RU" sz="2200" dirty="0" smtClean="0"/>
              <a:t>сформировать </a:t>
            </a:r>
            <a:r>
              <a:rPr lang="ru-RU" sz="2200" dirty="0"/>
              <a:t>более адекватные модели принятия решений</a:t>
            </a:r>
            <a:r>
              <a:rPr lang="ru-RU" sz="2200" dirty="0" smtClean="0"/>
              <a:t>.</a:t>
            </a:r>
            <a:endParaRPr lang="ru-RU" sz="2200" dirty="0" smtClean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2"/>
          <a:srcRect l="1244"/>
          <a:stretch/>
        </p:blipFill>
        <p:spPr>
          <a:xfrm>
            <a:off x="1678394" y="1998754"/>
            <a:ext cx="7323877" cy="3846947"/>
          </a:xfrm>
          <a:prstGeom prst="rect">
            <a:avLst/>
          </a:prstGeom>
        </p:spPr>
      </p:pic>
      <p:sp>
        <p:nvSpPr>
          <p:cNvPr id="12" name="Заголовок 3"/>
          <p:cNvSpPr txBox="1">
            <a:spLocks/>
          </p:cNvSpPr>
          <p:nvPr/>
        </p:nvSpPr>
        <p:spPr>
          <a:xfrm>
            <a:off x="729489" y="6619578"/>
            <a:ext cx="9221689" cy="70346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ru-RU" sz="2200" b="1" dirty="0"/>
              <a:t>Закономерности части и целого нужны </a:t>
            </a:r>
            <a:r>
              <a:rPr lang="ru-RU" sz="2200" dirty="0"/>
              <a:t>чтобы знать, какой вклад в неисправность имеет та или иная часть.</a:t>
            </a:r>
            <a:endParaRPr lang="ru-RU" sz="2200" dirty="0" smtClean="0"/>
          </a:p>
        </p:txBody>
      </p:sp>
    </p:spTree>
    <p:extLst>
      <p:ext uri="{BB962C8B-B14F-4D97-AF65-F5344CB8AC3E}">
        <p14:creationId xmlns:p14="http://schemas.microsoft.com/office/powerpoint/2010/main" val="2611007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3"/>
          <p:cNvSpPr txBox="1">
            <a:spLocks/>
          </p:cNvSpPr>
          <p:nvPr/>
        </p:nvSpPr>
        <p:spPr>
          <a:xfrm>
            <a:off x="729491" y="413987"/>
            <a:ext cx="9221689" cy="660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b="1" dirty="0" smtClean="0"/>
              <a:t>Закономерность систем</a:t>
            </a:r>
            <a:endParaRPr lang="ru-RU" sz="3200" b="1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z="2400" smtClean="0"/>
              <a:t>14</a:t>
            </a:fld>
            <a:endParaRPr lang="ru-RU" sz="240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489" y="1295418"/>
            <a:ext cx="9221689" cy="2528234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/>
          <a:srcRect t="3635"/>
          <a:stretch/>
        </p:blipFill>
        <p:spPr>
          <a:xfrm>
            <a:off x="729489" y="4299459"/>
            <a:ext cx="9221689" cy="2707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682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4213</TotalTime>
  <Words>489</Words>
  <Application>Microsoft Office PowerPoint</Application>
  <PresentationFormat>Произвольный</PresentationFormat>
  <Paragraphs>61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Тема Office</vt:lpstr>
      <vt:lpstr>Основы системного анализа</vt:lpstr>
      <vt:lpstr>Презентация PowerPoint</vt:lpstr>
      <vt:lpstr>Презентация PowerPoint</vt:lpstr>
      <vt:lpstr>Свойство – то, как функционирует объект при взаимодействии с другими объектами.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Основы системного анализа</dc:title>
  <dc:creator>Aunafae</dc:creator>
  <cp:lastModifiedBy>Aunafae</cp:lastModifiedBy>
  <cp:revision>198</cp:revision>
  <cp:lastPrinted>2025-11-21T09:53:32Z</cp:lastPrinted>
  <dcterms:created xsi:type="dcterms:W3CDTF">2025-09-24T20:04:47Z</dcterms:created>
  <dcterms:modified xsi:type="dcterms:W3CDTF">2025-11-21T10:04:01Z</dcterms:modified>
</cp:coreProperties>
</file>